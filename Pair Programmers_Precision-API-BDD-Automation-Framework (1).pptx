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15.fntdata" ContentType="application/x-fontdata"/>
  <Override PartName="/ppt/fonts/font16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11.svg" ContentType="image/svg+xml"/>
  <Override PartName="/ppt/media/image13.svg" ContentType="image/svg+xml"/>
  <Override PartName="/ppt/media/image15.svg" ContentType="image/svg+xml"/>
  <Override PartName="/ppt/media/image17.svg" ContentType="image/svg+xml"/>
  <Override PartName="/ppt/media/image19.svg" ContentType="image/svg+xml"/>
  <Override PartName="/ppt/media/image21.svg" ContentType="image/svg+xml"/>
  <Override PartName="/ppt/media/image24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4630400" cy="8229600"/>
  <p:notesSz cx="8229600" cy="14630400"/>
  <p:embeddedFontLst>
    <p:embeddedFont>
      <p:font typeface="PT Serif" panose="020A0703040505020204" pitchFamily="34" charset="0"/>
      <p:bold r:id="rId18"/>
    </p:embeddedFont>
    <p:embeddedFont>
      <p:font typeface="PT Serif" panose="020A0703040505020204" pitchFamily="34" charset="-122"/>
      <p:bold r:id="rId19"/>
    </p:embeddedFont>
    <p:embeddedFont>
      <p:font typeface="PT Serif" panose="020A0703040505020204" pitchFamily="34" charset="-120"/>
      <p:bold r:id="rId20"/>
    </p:embeddedFont>
    <p:embeddedFont>
      <p:font typeface="DM Sans" pitchFamily="34" charset="0"/>
      <p:bold r:id="rId21"/>
    </p:embeddedFont>
    <p:embeddedFont>
      <p:font typeface="DM Sans" pitchFamily="34" charset="-122"/>
      <p:bold r:id="rId22"/>
    </p:embeddedFont>
    <p:embeddedFont>
      <p:font typeface="DM Sans" pitchFamily="34" charset="-120"/>
      <p:bold r:id="rId23"/>
    </p:embeddedFont>
    <p:embeddedFont>
      <p:font typeface="Consolas" panose="020B0609020204030204" pitchFamily="34" charset="0"/>
      <p:regular r:id="rId24"/>
      <p:bold r:id="rId25"/>
      <p:italic r:id="rId26"/>
      <p:boldItalic r:id="rId27"/>
    </p:embeddedFont>
    <p:embeddedFont>
      <p:font typeface="Consolas" panose="020B0609020204030204" pitchFamily="34" charset="-122"/>
      <p:regular r:id="rId28"/>
    </p:embeddedFont>
    <p:embeddedFont>
      <p:font typeface="Consolas" panose="020B0609020204030204" pitchFamily="34" charset="-120"/>
      <p:regular r:id="rId29"/>
    </p:embeddedFont>
    <p:embeddedFont>
      <p:font typeface="Calibri" panose="020F0502020204030204" charset="0"/>
      <p:regular r:id="rId30"/>
      <p:bold r:id="rId31"/>
      <p:italic r:id="rId32"/>
      <p:boldItalic r:id="rId3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3" Type="http://schemas.openxmlformats.org/officeDocument/2006/relationships/font" Target="fonts/font16.fntdata"/><Relationship Id="rId32" Type="http://schemas.openxmlformats.org/officeDocument/2006/relationships/font" Target="fonts/font15.fntdata"/><Relationship Id="rId31" Type="http://schemas.openxmlformats.org/officeDocument/2006/relationships/font" Target="fonts/font14.fntdata"/><Relationship Id="rId30" Type="http://schemas.openxmlformats.org/officeDocument/2006/relationships/font" Target="fonts/font13.fntdata"/><Relationship Id="rId3" Type="http://schemas.openxmlformats.org/officeDocument/2006/relationships/slide" Target="slides/slide1.xml"/><Relationship Id="rId29" Type="http://schemas.openxmlformats.org/officeDocument/2006/relationships/font" Target="fonts/font12.fntdata"/><Relationship Id="rId28" Type="http://schemas.openxmlformats.org/officeDocument/2006/relationships/font" Target="fonts/font11.fntdata"/><Relationship Id="rId27" Type="http://schemas.openxmlformats.org/officeDocument/2006/relationships/font" Target="fonts/font10.fntdata"/><Relationship Id="rId26" Type="http://schemas.openxmlformats.org/officeDocument/2006/relationships/font" Target="fonts/font9.fntdata"/><Relationship Id="rId25" Type="http://schemas.openxmlformats.org/officeDocument/2006/relationships/font" Target="fonts/font8.fntdata"/><Relationship Id="rId24" Type="http://schemas.openxmlformats.org/officeDocument/2006/relationships/font" Target="fonts/font7.fntdata"/><Relationship Id="rId23" Type="http://schemas.openxmlformats.org/officeDocument/2006/relationships/font" Target="fonts/font6.fntdata"/><Relationship Id="rId22" Type="http://schemas.openxmlformats.org/officeDocument/2006/relationships/font" Target="fonts/font5.fntdata"/><Relationship Id="rId21" Type="http://schemas.openxmlformats.org/officeDocument/2006/relationships/font" Target="fonts/font4.fntdata"/><Relationship Id="rId20" Type="http://schemas.openxmlformats.org/officeDocument/2006/relationships/font" Target="fonts/font3.fntdata"/><Relationship Id="rId2" Type="http://schemas.openxmlformats.org/officeDocument/2006/relationships/theme" Target="theme/theme1.xml"/><Relationship Id="rId19" Type="http://schemas.openxmlformats.org/officeDocument/2006/relationships/font" Target="fonts/font2.fntdata"/><Relationship Id="rId18" Type="http://schemas.openxmlformats.org/officeDocument/2006/relationships/font" Target="fonts/font1.fntdata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5.xml"/><Relationship Id="rId5" Type="http://schemas.openxmlformats.org/officeDocument/2006/relationships/image" Target="../media/image9.svg"/><Relationship Id="rId4" Type="http://schemas.openxmlformats.org/officeDocument/2006/relationships/image" Target="../media/image8.svg"/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.svg"/><Relationship Id="rId8" Type="http://schemas.openxmlformats.org/officeDocument/2006/relationships/image" Target="../media/image16.png"/><Relationship Id="rId7" Type="http://schemas.openxmlformats.org/officeDocument/2006/relationships/image" Target="../media/image15.svg"/><Relationship Id="rId6" Type="http://schemas.openxmlformats.org/officeDocument/2006/relationships/image" Target="../media/image14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Relationship Id="rId3" Type="http://schemas.openxmlformats.org/officeDocument/2006/relationships/image" Target="../media/image11.svg"/><Relationship Id="rId2" Type="http://schemas.openxmlformats.org/officeDocument/2006/relationships/image" Target="../media/image5.png"/><Relationship Id="rId15" Type="http://schemas.openxmlformats.org/officeDocument/2006/relationships/notesSlide" Target="../notesSlides/notesSlide5.xml"/><Relationship Id="rId14" Type="http://schemas.openxmlformats.org/officeDocument/2006/relationships/slideLayout" Target="../slideLayouts/slideLayout6.xml"/><Relationship Id="rId13" Type="http://schemas.openxmlformats.org/officeDocument/2006/relationships/image" Target="../media/image21.svg"/><Relationship Id="rId12" Type="http://schemas.openxmlformats.org/officeDocument/2006/relationships/image" Target="../media/image20.png"/><Relationship Id="rId11" Type="http://schemas.openxmlformats.org/officeDocument/2006/relationships/image" Target="../media/image19.svg"/><Relationship Id="rId10" Type="http://schemas.openxmlformats.org/officeDocument/2006/relationships/image" Target="../media/image18.png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24.svg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48" y="2010966"/>
            <a:ext cx="5259586" cy="4207669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280190" y="1798082"/>
            <a:ext cx="7556421" cy="148851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</a:rPr>
              <a:t>Precision API BDD Automation Framework</a:t>
            </a:r>
            <a:endParaRPr lang="en-US" sz="4650" dirty="0"/>
          </a:p>
        </p:txBody>
      </p:sp>
      <p:sp>
        <p:nvSpPr>
          <p:cNvPr id="5" name="Text 1"/>
          <p:cNvSpPr/>
          <p:nvPr/>
        </p:nvSpPr>
        <p:spPr>
          <a:xfrm>
            <a:off x="6280190" y="3626763"/>
            <a:ext cx="75564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Java · REST Assured · Cucumber · Maven</a:t>
            </a:r>
            <a:endParaRPr lang="en-US" sz="1750" dirty="0"/>
          </a:p>
        </p:txBody>
      </p:sp>
      <p:sp>
        <p:nvSpPr>
          <p:cNvPr id="6" name="Shape 2"/>
          <p:cNvSpPr/>
          <p:nvPr/>
        </p:nvSpPr>
        <p:spPr>
          <a:xfrm>
            <a:off x="6280190" y="4244816"/>
            <a:ext cx="2708434" cy="426244"/>
          </a:xfrm>
          <a:prstGeom prst="roundRect">
            <a:avLst>
              <a:gd name="adj" fmla="val 6386"/>
            </a:avLst>
          </a:prstGeom>
          <a:solidFill>
            <a:srgbClr val="FFDECC"/>
          </a:solidFill>
        </p:spPr>
      </p:sp>
      <p:sp>
        <p:nvSpPr>
          <p:cNvPr id="7" name="Text 3"/>
          <p:cNvSpPr/>
          <p:nvPr/>
        </p:nvSpPr>
        <p:spPr>
          <a:xfrm>
            <a:off x="6416278" y="4312801"/>
            <a:ext cx="2436257" cy="29027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VEEVA SYSTEMS · MAY- 2026</a:t>
            </a:r>
            <a:endParaRPr lang="en-US" sz="14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0190" y="5181362"/>
            <a:ext cx="2284928" cy="99488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126141" y="5130284"/>
            <a:ext cx="471797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MVVNSM CHANDANA </a:t>
            </a:r>
            <a:endParaRPr lang="en-US" sz="1750" dirty="0"/>
          </a:p>
        </p:txBody>
      </p:sp>
      <p:sp>
        <p:nvSpPr>
          <p:cNvPr id="10" name="Text 5"/>
          <p:cNvSpPr/>
          <p:nvPr/>
        </p:nvSpPr>
        <p:spPr>
          <a:xfrm>
            <a:off x="9126141" y="5697260"/>
            <a:ext cx="471797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KADIMI HARIKA</a:t>
            </a:r>
            <a:endParaRPr lang="en-US" sz="1750" dirty="0"/>
          </a:p>
        </p:txBody>
      </p:sp>
      <p:sp>
        <p:nvSpPr>
          <p:cNvPr id="11" name="Rectangle 10"/>
          <p:cNvSpPr/>
          <p:nvPr/>
        </p:nvSpPr>
        <p:spPr>
          <a:xfrm>
            <a:off x="12499975" y="7630795"/>
            <a:ext cx="2150110" cy="5988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02449" y="311825"/>
            <a:ext cx="2977039" cy="3720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020202"/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</a:rPr>
              <a:t>Contents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3402449" y="797243"/>
            <a:ext cx="7825502" cy="68044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17689" y="812483"/>
            <a:ext cx="453628" cy="649962"/>
          </a:xfrm>
          <a:prstGeom prst="rect">
            <a:avLst/>
          </a:prstGeom>
          <a:solidFill>
            <a:srgbClr val="F2EEEE"/>
          </a:solidFill>
        </p:spPr>
      </p:sp>
      <p:sp>
        <p:nvSpPr>
          <p:cNvPr id="5" name="Text 3"/>
          <p:cNvSpPr/>
          <p:nvPr/>
        </p:nvSpPr>
        <p:spPr>
          <a:xfrm>
            <a:off x="3559493" y="1031081"/>
            <a:ext cx="170021" cy="21264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927991" y="925830"/>
            <a:ext cx="1488519" cy="1859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</a:rPr>
              <a:t>Problem Statement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02449" y="1534358"/>
            <a:ext cx="7825502" cy="68044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17689" y="1549598"/>
            <a:ext cx="453628" cy="649962"/>
          </a:xfrm>
          <a:prstGeom prst="rect">
            <a:avLst/>
          </a:prstGeom>
          <a:solidFill>
            <a:srgbClr val="F2EEEE"/>
          </a:solidFill>
        </p:spPr>
      </p:sp>
      <p:sp>
        <p:nvSpPr>
          <p:cNvPr id="9" name="Text 7"/>
          <p:cNvSpPr/>
          <p:nvPr/>
        </p:nvSpPr>
        <p:spPr>
          <a:xfrm>
            <a:off x="3559493" y="1768197"/>
            <a:ext cx="170021" cy="21264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927991" y="1662946"/>
            <a:ext cx="1488519" cy="1859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</a:rPr>
              <a:t>Project Objectives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402449" y="2271474"/>
            <a:ext cx="7825502" cy="68044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17689" y="2286714"/>
            <a:ext cx="453628" cy="649962"/>
          </a:xfrm>
          <a:prstGeom prst="rect">
            <a:avLst/>
          </a:prstGeom>
          <a:solidFill>
            <a:srgbClr val="F2EEEE"/>
          </a:solidFill>
        </p:spPr>
      </p:sp>
      <p:sp>
        <p:nvSpPr>
          <p:cNvPr id="13" name="Text 11"/>
          <p:cNvSpPr/>
          <p:nvPr/>
        </p:nvSpPr>
        <p:spPr>
          <a:xfrm>
            <a:off x="3559493" y="2505313"/>
            <a:ext cx="170021" cy="21264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927991" y="2400062"/>
            <a:ext cx="1488519" cy="1859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</a:rPr>
              <a:t>Technology Stack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402449" y="3008590"/>
            <a:ext cx="7825502" cy="68044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17689" y="3023830"/>
            <a:ext cx="453628" cy="649962"/>
          </a:xfrm>
          <a:prstGeom prst="rect">
            <a:avLst/>
          </a:prstGeom>
          <a:solidFill>
            <a:srgbClr val="F2EEEE"/>
          </a:solidFill>
        </p:spPr>
      </p:sp>
      <p:sp>
        <p:nvSpPr>
          <p:cNvPr id="17" name="Text 15"/>
          <p:cNvSpPr/>
          <p:nvPr/>
        </p:nvSpPr>
        <p:spPr>
          <a:xfrm>
            <a:off x="3559493" y="3242429"/>
            <a:ext cx="170021" cy="21264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927991" y="3137178"/>
            <a:ext cx="1603534" cy="1859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</a:rPr>
              <a:t>Framework Architecture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402449" y="3745706"/>
            <a:ext cx="7825502" cy="68044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17689" y="3760946"/>
            <a:ext cx="453628" cy="649962"/>
          </a:xfrm>
          <a:prstGeom prst="rect">
            <a:avLst/>
          </a:prstGeom>
          <a:solidFill>
            <a:srgbClr val="F2EEEE"/>
          </a:solidFill>
        </p:spPr>
      </p:sp>
      <p:sp>
        <p:nvSpPr>
          <p:cNvPr id="21" name="Text 19"/>
          <p:cNvSpPr/>
          <p:nvPr/>
        </p:nvSpPr>
        <p:spPr>
          <a:xfrm>
            <a:off x="3559493" y="3979545"/>
            <a:ext cx="170021" cy="21264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927991" y="3874294"/>
            <a:ext cx="1583412" cy="1859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</a:rPr>
              <a:t>Project Folder Structure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402449" y="4482822"/>
            <a:ext cx="7825502" cy="68044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17689" y="4498062"/>
            <a:ext cx="453628" cy="649962"/>
          </a:xfrm>
          <a:prstGeom prst="rect">
            <a:avLst/>
          </a:prstGeom>
          <a:solidFill>
            <a:srgbClr val="F2EEEE"/>
          </a:solidFill>
        </p:spPr>
      </p:sp>
      <p:sp>
        <p:nvSpPr>
          <p:cNvPr id="25" name="Text 23"/>
          <p:cNvSpPr/>
          <p:nvPr/>
        </p:nvSpPr>
        <p:spPr>
          <a:xfrm>
            <a:off x="3559493" y="4716661"/>
            <a:ext cx="170021" cy="21264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</a:rPr>
              <a:t>6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927991" y="4611410"/>
            <a:ext cx="2182892" cy="1859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</a:rPr>
              <a:t>Framework Design Patterns Used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402449" y="5219938"/>
            <a:ext cx="7825502" cy="68044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17689" y="5235178"/>
            <a:ext cx="453628" cy="649962"/>
          </a:xfrm>
          <a:prstGeom prst="rect">
            <a:avLst/>
          </a:prstGeom>
          <a:solidFill>
            <a:srgbClr val="F2EEEE"/>
          </a:solidFill>
        </p:spPr>
      </p:sp>
      <p:sp>
        <p:nvSpPr>
          <p:cNvPr id="29" name="Text 27"/>
          <p:cNvSpPr/>
          <p:nvPr/>
        </p:nvSpPr>
        <p:spPr>
          <a:xfrm>
            <a:off x="3559493" y="5453777"/>
            <a:ext cx="170021" cy="21264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</a:rPr>
              <a:t>7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927991" y="5348526"/>
            <a:ext cx="1919288" cy="1859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</a:rPr>
              <a:t>Test Scenario Demonstration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3402449" y="5957054"/>
            <a:ext cx="7825502" cy="68044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417689" y="5972294"/>
            <a:ext cx="453628" cy="649962"/>
          </a:xfrm>
          <a:prstGeom prst="rect">
            <a:avLst/>
          </a:prstGeom>
          <a:solidFill>
            <a:srgbClr val="F2EEEE"/>
          </a:solidFill>
        </p:spPr>
      </p:sp>
      <p:sp>
        <p:nvSpPr>
          <p:cNvPr id="33" name="Text 31"/>
          <p:cNvSpPr/>
          <p:nvPr/>
        </p:nvSpPr>
        <p:spPr>
          <a:xfrm>
            <a:off x="3559493" y="6190893"/>
            <a:ext cx="170021" cy="21264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</a:rPr>
              <a:t>8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927991" y="6085642"/>
            <a:ext cx="1488519" cy="1859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</a:rPr>
              <a:t>Code Walkthrough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3402449" y="6694170"/>
            <a:ext cx="7825502" cy="68044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417689" y="6709410"/>
            <a:ext cx="453628" cy="649962"/>
          </a:xfrm>
          <a:prstGeom prst="rect">
            <a:avLst/>
          </a:prstGeom>
          <a:solidFill>
            <a:srgbClr val="F2EEEE"/>
          </a:solidFill>
        </p:spPr>
      </p:sp>
      <p:sp>
        <p:nvSpPr>
          <p:cNvPr id="37" name="Text 35"/>
          <p:cNvSpPr/>
          <p:nvPr/>
        </p:nvSpPr>
        <p:spPr>
          <a:xfrm>
            <a:off x="3559493" y="6928009"/>
            <a:ext cx="170021" cy="21264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</a:rPr>
              <a:t>9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927991" y="6822758"/>
            <a:ext cx="2626043" cy="1859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</a:rPr>
              <a:t>Execution, Reporting &amp; Version Control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3402449" y="7431286"/>
            <a:ext cx="7825502" cy="68044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417689" y="7446526"/>
            <a:ext cx="453628" cy="649962"/>
          </a:xfrm>
          <a:prstGeom prst="rect">
            <a:avLst/>
          </a:prstGeom>
          <a:solidFill>
            <a:srgbClr val="F2EEEE"/>
          </a:solidFill>
        </p:spPr>
      </p:sp>
      <p:sp>
        <p:nvSpPr>
          <p:cNvPr id="41" name="Text 39"/>
          <p:cNvSpPr/>
          <p:nvPr/>
        </p:nvSpPr>
        <p:spPr>
          <a:xfrm>
            <a:off x="3559493" y="7665125"/>
            <a:ext cx="170021" cy="21264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</a:rPr>
              <a:t>10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3927991" y="7559873"/>
            <a:ext cx="1805821" cy="1859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</a:rPr>
              <a:t>Conclusion &amp; Future Scope</a:t>
            </a:r>
            <a:endParaRPr lang="en-US" sz="1150" dirty="0"/>
          </a:p>
        </p:txBody>
      </p:sp>
      <p:sp>
        <p:nvSpPr>
          <p:cNvPr id="43" name="Rectangle 42"/>
          <p:cNvSpPr/>
          <p:nvPr/>
        </p:nvSpPr>
        <p:spPr>
          <a:xfrm>
            <a:off x="12499975" y="7630795"/>
            <a:ext cx="2150110" cy="5988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4" name="Rectangle 43"/>
          <p:cNvSpPr/>
          <p:nvPr/>
        </p:nvSpPr>
        <p:spPr>
          <a:xfrm>
            <a:off x="311150" y="269240"/>
            <a:ext cx="14018260" cy="7625080"/>
          </a:xfrm>
          <a:prstGeom prst="rect">
            <a:avLst/>
          </a:prstGeom>
          <a:noFill/>
          <a:ln w="381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95882"/>
            <a:ext cx="10058995" cy="7442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</a:rPr>
              <a:t>The Problem with Manual API Testing</a:t>
            </a:r>
            <a:endParaRPr lang="en-US" sz="4650" dirty="0"/>
          </a:p>
        </p:txBody>
      </p:sp>
      <p:sp>
        <p:nvSpPr>
          <p:cNvPr id="3" name="Shape 1"/>
          <p:cNvSpPr/>
          <p:nvPr/>
        </p:nvSpPr>
        <p:spPr>
          <a:xfrm>
            <a:off x="793790" y="3550325"/>
            <a:ext cx="13042821" cy="30480"/>
          </a:xfrm>
          <a:prstGeom prst="roundRect">
            <a:avLst>
              <a:gd name="adj" fmla="val 111628"/>
            </a:avLst>
          </a:prstGeom>
          <a:solidFill>
            <a:srgbClr val="D8D4D4"/>
          </a:solidFill>
        </p:spPr>
      </p:sp>
      <p:sp>
        <p:nvSpPr>
          <p:cNvPr id="4" name="Shape 2"/>
          <p:cNvSpPr/>
          <p:nvPr/>
        </p:nvSpPr>
        <p:spPr>
          <a:xfrm>
            <a:off x="2302550" y="3550325"/>
            <a:ext cx="30480" cy="680442"/>
          </a:xfrm>
          <a:prstGeom prst="roundRect">
            <a:avLst>
              <a:gd name="adj" fmla="val 111628"/>
            </a:avLst>
          </a:prstGeom>
          <a:solidFill>
            <a:srgbClr val="D8D4D4"/>
          </a:solidFill>
        </p:spPr>
      </p:sp>
      <p:sp>
        <p:nvSpPr>
          <p:cNvPr id="5" name="Shape 3"/>
          <p:cNvSpPr/>
          <p:nvPr/>
        </p:nvSpPr>
        <p:spPr>
          <a:xfrm>
            <a:off x="2232779" y="3465314"/>
            <a:ext cx="170021" cy="170021"/>
          </a:xfrm>
          <a:prstGeom prst="roundRect">
            <a:avLst>
              <a:gd name="adj" fmla="val 268908"/>
            </a:avLst>
          </a:prstGeom>
          <a:solidFill>
            <a:srgbClr val="E04F00"/>
          </a:solidFill>
        </p:spPr>
      </p:sp>
      <p:sp>
        <p:nvSpPr>
          <p:cNvPr id="6" name="Shape 4"/>
          <p:cNvSpPr/>
          <p:nvPr/>
        </p:nvSpPr>
        <p:spPr>
          <a:xfrm>
            <a:off x="793790" y="4230886"/>
            <a:ext cx="3048000" cy="1702832"/>
          </a:xfrm>
          <a:prstGeom prst="roundRect">
            <a:avLst>
              <a:gd name="adj" fmla="val 1998"/>
            </a:avLst>
          </a:prstGeom>
          <a:solidFill>
            <a:srgbClr val="F2EEEE"/>
          </a:solidFill>
        </p:spPr>
      </p:sp>
      <p:sp>
        <p:nvSpPr>
          <p:cNvPr id="7" name="Text 5"/>
          <p:cNvSpPr/>
          <p:nvPr/>
        </p:nvSpPr>
        <p:spPr>
          <a:xfrm>
            <a:off x="1020604" y="4457700"/>
            <a:ext cx="2594372" cy="3873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00" dirty="0">
                <a:solidFill>
                  <a:srgbClr val="000000"/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</a:rPr>
              <a:t>⏱</a:t>
            </a:r>
            <a:r>
              <a:rPr lang="en-US" sz="2300" dirty="0">
                <a:solidFill>
                  <a:srgbClr val="383838"/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</a:rPr>
              <a:t> Slow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020604" y="4981099"/>
            <a:ext cx="2594372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Doesn't keep up with sprint speed.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5634038" y="3550325"/>
            <a:ext cx="30480" cy="680442"/>
          </a:xfrm>
          <a:prstGeom prst="roundRect">
            <a:avLst>
              <a:gd name="adj" fmla="val 111628"/>
            </a:avLst>
          </a:prstGeom>
          <a:solidFill>
            <a:srgbClr val="D8D4D4"/>
          </a:solidFill>
        </p:spPr>
      </p:sp>
      <p:sp>
        <p:nvSpPr>
          <p:cNvPr id="10" name="Shape 8"/>
          <p:cNvSpPr/>
          <p:nvPr/>
        </p:nvSpPr>
        <p:spPr>
          <a:xfrm>
            <a:off x="5564267" y="3465314"/>
            <a:ext cx="170021" cy="170021"/>
          </a:xfrm>
          <a:prstGeom prst="roundRect">
            <a:avLst>
              <a:gd name="adj" fmla="val 268908"/>
            </a:avLst>
          </a:prstGeom>
          <a:solidFill>
            <a:srgbClr val="E04F00"/>
          </a:solidFill>
        </p:spPr>
      </p:sp>
      <p:sp>
        <p:nvSpPr>
          <p:cNvPr id="11" name="Shape 9"/>
          <p:cNvSpPr/>
          <p:nvPr/>
        </p:nvSpPr>
        <p:spPr>
          <a:xfrm>
            <a:off x="4125278" y="4230886"/>
            <a:ext cx="3048119" cy="1702832"/>
          </a:xfrm>
          <a:prstGeom prst="roundRect">
            <a:avLst>
              <a:gd name="adj" fmla="val 1998"/>
            </a:avLst>
          </a:prstGeom>
          <a:solidFill>
            <a:srgbClr val="F2EEEE"/>
          </a:solidFill>
        </p:spPr>
      </p:sp>
      <p:sp>
        <p:nvSpPr>
          <p:cNvPr id="12" name="Text 10"/>
          <p:cNvSpPr/>
          <p:nvPr/>
        </p:nvSpPr>
        <p:spPr>
          <a:xfrm>
            <a:off x="4352092" y="4457700"/>
            <a:ext cx="2594491" cy="3873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00" dirty="0">
                <a:solidFill>
                  <a:srgbClr val="000000"/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</a:rPr>
              <a:t>⚠️</a:t>
            </a:r>
            <a:r>
              <a:rPr lang="en-US" sz="2300" dirty="0">
                <a:solidFill>
                  <a:srgbClr val="383838"/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</a:rPr>
              <a:t> Error-Prone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4352092" y="4981099"/>
            <a:ext cx="2594491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Repetitive checks lead to mistakes.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8965644" y="3550325"/>
            <a:ext cx="30480" cy="680442"/>
          </a:xfrm>
          <a:prstGeom prst="roundRect">
            <a:avLst>
              <a:gd name="adj" fmla="val 111628"/>
            </a:avLst>
          </a:prstGeom>
          <a:solidFill>
            <a:srgbClr val="D8D4D4"/>
          </a:solidFill>
        </p:spPr>
      </p:sp>
      <p:sp>
        <p:nvSpPr>
          <p:cNvPr id="15" name="Shape 13"/>
          <p:cNvSpPr/>
          <p:nvPr/>
        </p:nvSpPr>
        <p:spPr>
          <a:xfrm>
            <a:off x="8895874" y="3465314"/>
            <a:ext cx="170021" cy="170021"/>
          </a:xfrm>
          <a:prstGeom prst="roundRect">
            <a:avLst>
              <a:gd name="adj" fmla="val 268908"/>
            </a:avLst>
          </a:prstGeom>
          <a:solidFill>
            <a:srgbClr val="E04F00"/>
          </a:solidFill>
        </p:spPr>
      </p:sp>
      <p:sp>
        <p:nvSpPr>
          <p:cNvPr id="16" name="Shape 14"/>
          <p:cNvSpPr/>
          <p:nvPr/>
        </p:nvSpPr>
        <p:spPr>
          <a:xfrm>
            <a:off x="7456884" y="4230886"/>
            <a:ext cx="3048119" cy="1702832"/>
          </a:xfrm>
          <a:prstGeom prst="roundRect">
            <a:avLst>
              <a:gd name="adj" fmla="val 1998"/>
            </a:avLst>
          </a:prstGeom>
          <a:solidFill>
            <a:srgbClr val="F2EEEE"/>
          </a:solidFill>
        </p:spPr>
      </p:sp>
      <p:sp>
        <p:nvSpPr>
          <p:cNvPr id="17" name="Text 15"/>
          <p:cNvSpPr/>
          <p:nvPr/>
        </p:nvSpPr>
        <p:spPr>
          <a:xfrm>
            <a:off x="7683698" y="4457700"/>
            <a:ext cx="2594491" cy="3873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00" dirty="0">
                <a:solidFill>
                  <a:srgbClr val="000000"/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</a:rPr>
              <a:t>🔗</a:t>
            </a:r>
            <a:r>
              <a:rPr lang="en-US" sz="2300" dirty="0">
                <a:solidFill>
                  <a:srgbClr val="383838"/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</a:rPr>
              <a:t> Hard to Chain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7683698" y="4981099"/>
            <a:ext cx="2594491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Cross-endpoint flows are difficult to manage.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12297251" y="3550325"/>
            <a:ext cx="30480" cy="680442"/>
          </a:xfrm>
          <a:prstGeom prst="roundRect">
            <a:avLst>
              <a:gd name="adj" fmla="val 111628"/>
            </a:avLst>
          </a:prstGeom>
          <a:solidFill>
            <a:srgbClr val="D8D4D4"/>
          </a:solidFill>
        </p:spPr>
      </p:sp>
      <p:sp>
        <p:nvSpPr>
          <p:cNvPr id="20" name="Shape 18"/>
          <p:cNvSpPr/>
          <p:nvPr/>
        </p:nvSpPr>
        <p:spPr>
          <a:xfrm>
            <a:off x="12227481" y="3465314"/>
            <a:ext cx="170021" cy="170021"/>
          </a:xfrm>
          <a:prstGeom prst="roundRect">
            <a:avLst>
              <a:gd name="adj" fmla="val 268908"/>
            </a:avLst>
          </a:prstGeom>
          <a:solidFill>
            <a:srgbClr val="E04F00"/>
          </a:solidFill>
        </p:spPr>
      </p:sp>
      <p:sp>
        <p:nvSpPr>
          <p:cNvPr id="21" name="Shape 19"/>
          <p:cNvSpPr/>
          <p:nvPr/>
        </p:nvSpPr>
        <p:spPr>
          <a:xfrm>
            <a:off x="10788491" y="4230886"/>
            <a:ext cx="3048119" cy="1702832"/>
          </a:xfrm>
          <a:prstGeom prst="roundRect">
            <a:avLst>
              <a:gd name="adj" fmla="val 1998"/>
            </a:avLst>
          </a:prstGeom>
          <a:solidFill>
            <a:srgbClr val="F2EEEE"/>
          </a:solidFill>
        </p:spPr>
      </p:sp>
      <p:sp>
        <p:nvSpPr>
          <p:cNvPr id="22" name="Text 20"/>
          <p:cNvSpPr/>
          <p:nvPr/>
        </p:nvSpPr>
        <p:spPr>
          <a:xfrm>
            <a:off x="11015305" y="4457700"/>
            <a:ext cx="2594491" cy="3873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00" dirty="0">
                <a:solidFill>
                  <a:srgbClr val="000000"/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</a:rPr>
              <a:t>📉</a:t>
            </a:r>
            <a:r>
              <a:rPr lang="en-US" sz="2300" dirty="0">
                <a:solidFill>
                  <a:srgbClr val="383838"/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</a:rPr>
              <a:t> Low Coverage</a:t>
            </a:r>
            <a:endParaRPr lang="en-US" sz="2300" dirty="0"/>
          </a:p>
        </p:txBody>
      </p:sp>
      <p:sp>
        <p:nvSpPr>
          <p:cNvPr id="23" name="Text 21"/>
          <p:cNvSpPr/>
          <p:nvPr/>
        </p:nvSpPr>
        <p:spPr>
          <a:xfrm>
            <a:off x="11015305" y="4981099"/>
            <a:ext cx="2594491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Edge cases and failures get missed.</a:t>
            </a:r>
            <a:endParaRPr lang="en-US" sz="1750" dirty="0"/>
          </a:p>
        </p:txBody>
      </p:sp>
      <p:sp>
        <p:nvSpPr>
          <p:cNvPr id="24" name="Rectangle 23"/>
          <p:cNvSpPr/>
          <p:nvPr/>
        </p:nvSpPr>
        <p:spPr>
          <a:xfrm>
            <a:off x="12499975" y="7630795"/>
            <a:ext cx="2150110" cy="5988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311150" y="269240"/>
            <a:ext cx="14018260" cy="7625080"/>
          </a:xfrm>
          <a:prstGeom prst="rect">
            <a:avLst/>
          </a:prstGeom>
          <a:noFill/>
          <a:ln w="381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72628"/>
            <a:ext cx="5954197" cy="7442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</a:rPr>
              <a:t>Objectives</a:t>
            </a:r>
            <a:endParaRPr lang="en-US" sz="4650" dirty="0"/>
          </a:p>
        </p:txBody>
      </p:sp>
      <p:sp>
        <p:nvSpPr>
          <p:cNvPr id="3" name="Shape 1"/>
          <p:cNvSpPr/>
          <p:nvPr/>
        </p:nvSpPr>
        <p:spPr>
          <a:xfrm>
            <a:off x="793790" y="3170515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2EEEE"/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0347" y="3247073"/>
            <a:ext cx="357188" cy="3571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30906" y="3248382"/>
            <a:ext cx="3421499" cy="74414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</a:rPr>
              <a:t>Automate REST API Testing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1530906" y="4128611"/>
            <a:ext cx="3421499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CRUD operations + API chaining with REST Assured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235893" y="3170515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2EEEE"/>
          </a:solidFill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12450" y="3247073"/>
            <a:ext cx="357188" cy="35718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973008" y="3248382"/>
            <a:ext cx="3421499" cy="74414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</a:rPr>
              <a:t>Implement BDD with Cucumber</a:t>
            </a:r>
            <a:endParaRPr lang="en-US" sz="2300" dirty="0"/>
          </a:p>
        </p:txBody>
      </p:sp>
      <p:sp>
        <p:nvSpPr>
          <p:cNvPr id="10" name="Text 6"/>
          <p:cNvSpPr/>
          <p:nvPr/>
        </p:nvSpPr>
        <p:spPr>
          <a:xfrm>
            <a:off x="5973008" y="4128611"/>
            <a:ext cx="3421499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Gherkin scenarios: readable by devs, QA, and stakeholders</a:t>
            </a:r>
            <a:endParaRPr lang="en-US" sz="1750" dirty="0"/>
          </a:p>
        </p:txBody>
      </p:sp>
      <p:sp>
        <p:nvSpPr>
          <p:cNvPr id="11" name="Shape 7"/>
          <p:cNvSpPr/>
          <p:nvPr/>
        </p:nvSpPr>
        <p:spPr>
          <a:xfrm>
            <a:off x="9677995" y="3170515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2EEEE"/>
          </a:solidFill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54552" y="3247073"/>
            <a:ext cx="357188" cy="35718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415111" y="3248382"/>
            <a:ext cx="2977039" cy="3720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</a:rPr>
              <a:t>Validate Edge Cases</a:t>
            </a:r>
            <a:endParaRPr lang="en-US" sz="2300" dirty="0"/>
          </a:p>
        </p:txBody>
      </p:sp>
      <p:sp>
        <p:nvSpPr>
          <p:cNvPr id="14" name="Text 9"/>
          <p:cNvSpPr/>
          <p:nvPr/>
        </p:nvSpPr>
        <p:spPr>
          <a:xfrm>
            <a:off x="10415111" y="3756541"/>
            <a:ext cx="3421499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Negative testing, error handling, cross-endpoint consistency</a:t>
            </a:r>
            <a:endParaRPr lang="en-US" sz="1750" dirty="0"/>
          </a:p>
        </p:txBody>
      </p:sp>
      <p:sp>
        <p:nvSpPr>
          <p:cNvPr id="15" name="Shape 10"/>
          <p:cNvSpPr/>
          <p:nvPr/>
        </p:nvSpPr>
        <p:spPr>
          <a:xfrm>
            <a:off x="793790" y="5308044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2EEEE"/>
          </a:solidFill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0347" y="5384602"/>
            <a:ext cx="357188" cy="35718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530906" y="5385911"/>
            <a:ext cx="2977039" cy="3720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</a:rPr>
              <a:t>Generate Reports</a:t>
            </a:r>
            <a:endParaRPr lang="en-US" sz="2300" dirty="0"/>
          </a:p>
        </p:txBody>
      </p:sp>
      <p:sp>
        <p:nvSpPr>
          <p:cNvPr id="18" name="Text 12"/>
          <p:cNvSpPr/>
          <p:nvPr/>
        </p:nvSpPr>
        <p:spPr>
          <a:xfrm>
            <a:off x="1530906" y="5894070"/>
            <a:ext cx="1230570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Extent, Cucumber, and Surefire reports for every run</a:t>
            </a:r>
            <a:endParaRPr lang="en-US" sz="1750" dirty="0"/>
          </a:p>
        </p:txBody>
      </p:sp>
      <p:sp>
        <p:nvSpPr>
          <p:cNvPr id="19" name="Rectangle 18"/>
          <p:cNvSpPr/>
          <p:nvPr/>
        </p:nvSpPr>
        <p:spPr>
          <a:xfrm>
            <a:off x="12499975" y="7630795"/>
            <a:ext cx="2150110" cy="5988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311150" y="269240"/>
            <a:ext cx="14018260" cy="7625080"/>
          </a:xfrm>
          <a:prstGeom prst="rect">
            <a:avLst/>
          </a:prstGeom>
          <a:noFill/>
          <a:ln w="381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33368"/>
            <a:ext cx="5954197" cy="7442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</a:rPr>
              <a:t>Technology Stack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1828800" y="2640568"/>
            <a:ext cx="2977039" cy="3720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r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</a:rPr>
              <a:t>Java 21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93790" y="3148727"/>
            <a:ext cx="4012049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Core language for all automation logic</a:t>
            </a:r>
            <a:endParaRPr lang="en-US" sz="1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32653" y="2431256"/>
            <a:ext cx="4564975" cy="4564975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96301" y="3043476"/>
            <a:ext cx="339328" cy="33932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824442" y="2459117"/>
            <a:ext cx="2977039" cy="3720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</a:rPr>
              <a:t>REST Assured</a:t>
            </a:r>
            <a:endParaRPr lang="en-US" sz="2300" dirty="0"/>
          </a:p>
        </p:txBody>
      </p:sp>
      <p:sp>
        <p:nvSpPr>
          <p:cNvPr id="8" name="Text 4"/>
          <p:cNvSpPr/>
          <p:nvPr/>
        </p:nvSpPr>
        <p:spPr>
          <a:xfrm>
            <a:off x="9824442" y="2967276"/>
            <a:ext cx="4012168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HTTP request creation &amp; response validation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2653" y="2431256"/>
            <a:ext cx="4564975" cy="4564975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70307" y="3318153"/>
            <a:ext cx="339328" cy="33932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051256" y="4089083"/>
            <a:ext cx="2977039" cy="3720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</a:rPr>
              <a:t>Cucumber</a:t>
            </a:r>
            <a:endParaRPr lang="en-US" sz="2300" dirty="0"/>
          </a:p>
        </p:txBody>
      </p:sp>
      <p:sp>
        <p:nvSpPr>
          <p:cNvPr id="12" name="Text 6"/>
          <p:cNvSpPr/>
          <p:nvPr/>
        </p:nvSpPr>
        <p:spPr>
          <a:xfrm>
            <a:off x="10051256" y="4597241"/>
            <a:ext cx="3785354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BDD scenarios in Gherkin Given-When-Then</a:t>
            </a:r>
            <a:endParaRPr lang="en-US" sz="17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2653" y="2431256"/>
            <a:ext cx="4564975" cy="4564975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719423" y="4818578"/>
            <a:ext cx="339328" cy="339328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9824442" y="5719048"/>
            <a:ext cx="2977039" cy="3720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</a:rPr>
              <a:t>Maven</a:t>
            </a:r>
            <a:endParaRPr lang="en-US" sz="2300" dirty="0"/>
          </a:p>
        </p:txBody>
      </p:sp>
      <p:sp>
        <p:nvSpPr>
          <p:cNvPr id="16" name="Text 8"/>
          <p:cNvSpPr/>
          <p:nvPr/>
        </p:nvSpPr>
        <p:spPr>
          <a:xfrm>
            <a:off x="9824442" y="6227207"/>
            <a:ext cx="4012168" cy="7410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Dependency management · </a:t>
            </a:r>
            <a:r>
              <a:rPr lang="en-US" sz="1750" dirty="0">
                <a:solidFill>
                  <a:srgbClr val="383838"/>
                </a:solidFill>
                <a:highlight>
                  <a:srgbClr val="F2F2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mvn clean test</a:t>
            </a:r>
            <a:endParaRPr lang="en-US" sz="175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32653" y="2431256"/>
            <a:ext cx="4564975" cy="4564975"/>
          </a:xfrm>
          <a:prstGeom prst="rect">
            <a:avLst/>
          </a:prstGeom>
        </p:spPr>
      </p:pic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694533" y="6044327"/>
            <a:ext cx="339328" cy="339328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1828800" y="5726668"/>
            <a:ext cx="2977039" cy="3720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r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</a:rPr>
              <a:t>Postman</a:t>
            </a:r>
            <a:endParaRPr lang="en-US" sz="2300" dirty="0"/>
          </a:p>
        </p:txBody>
      </p:sp>
      <p:sp>
        <p:nvSpPr>
          <p:cNvPr id="20" name="Text 10"/>
          <p:cNvSpPr/>
          <p:nvPr/>
        </p:nvSpPr>
        <p:spPr>
          <a:xfrm>
            <a:off x="793790" y="6234827"/>
            <a:ext cx="4012049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Manual validation &amp; environment setup</a:t>
            </a:r>
            <a:endParaRPr lang="en-US" sz="1750" dirty="0"/>
          </a:p>
        </p:txBody>
      </p:sp>
      <p:pic>
        <p:nvPicPr>
          <p:cNvPr id="21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32653" y="2431256"/>
            <a:ext cx="4564975" cy="4564975"/>
          </a:xfrm>
          <a:prstGeom prst="rect">
            <a:avLst/>
          </a:prstGeom>
        </p:spPr>
      </p:pic>
      <p:pic>
        <p:nvPicPr>
          <p:cNvPr id="22" name="Image 9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120527" y="5769650"/>
            <a:ext cx="339328" cy="339328"/>
          </a:xfrm>
          <a:prstGeom prst="rect">
            <a:avLst/>
          </a:prstGeom>
        </p:spPr>
      </p:pic>
      <p:sp>
        <p:nvSpPr>
          <p:cNvPr id="23" name="Text 11"/>
          <p:cNvSpPr/>
          <p:nvPr/>
        </p:nvSpPr>
        <p:spPr>
          <a:xfrm>
            <a:off x="1601986" y="4089083"/>
            <a:ext cx="2977039" cy="3720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r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</a:rPr>
              <a:t>Git / GitHub</a:t>
            </a:r>
            <a:endParaRPr lang="en-US" sz="2300" dirty="0"/>
          </a:p>
        </p:txBody>
      </p:sp>
      <p:sp>
        <p:nvSpPr>
          <p:cNvPr id="24" name="Text 12"/>
          <p:cNvSpPr/>
          <p:nvPr/>
        </p:nvSpPr>
        <p:spPr>
          <a:xfrm>
            <a:off x="793790" y="4597241"/>
            <a:ext cx="3785235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Version control &amp; project collaboration</a:t>
            </a:r>
            <a:endParaRPr lang="en-US" sz="1750" dirty="0"/>
          </a:p>
        </p:txBody>
      </p:sp>
      <p:pic>
        <p:nvPicPr>
          <p:cNvPr id="25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32653" y="2459831"/>
            <a:ext cx="4564975" cy="4564975"/>
          </a:xfrm>
          <a:prstGeom prst="rect">
            <a:avLst/>
          </a:prstGeom>
        </p:spPr>
      </p:pic>
      <p:pic>
        <p:nvPicPr>
          <p:cNvPr id="26" name="Image 11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571411" y="4269224"/>
            <a:ext cx="339328" cy="339328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12499975" y="7640320"/>
            <a:ext cx="2150110" cy="5988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311150" y="269240"/>
            <a:ext cx="14018260" cy="7625080"/>
          </a:xfrm>
          <a:prstGeom prst="rect">
            <a:avLst/>
          </a:prstGeom>
          <a:noFill/>
          <a:ln w="381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12846" y="457319"/>
            <a:ext cx="4514136" cy="5232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250" dirty="0">
                <a:solidFill>
                  <a:srgbClr val="020202"/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</a:rPr>
              <a:t>Framework Architecture</a:t>
            </a:r>
            <a:endParaRPr lang="en-US" sz="3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2846" y="1204793"/>
            <a:ext cx="11004590" cy="60067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12846" y="7337584"/>
            <a:ext cx="11004590" cy="43457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Each layer owns a single responsibility — from scenario declaration down to HTTP execution — enabling maintainability and reuse across the entire suite.</a:t>
            </a:r>
            <a:endParaRPr lang="en-US" sz="1250" dirty="0"/>
          </a:p>
        </p:txBody>
      </p:sp>
      <p:sp>
        <p:nvSpPr>
          <p:cNvPr id="11" name="Rectangle 10"/>
          <p:cNvSpPr/>
          <p:nvPr/>
        </p:nvSpPr>
        <p:spPr>
          <a:xfrm>
            <a:off x="12499975" y="7630795"/>
            <a:ext cx="2150110" cy="5988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311150" y="269240"/>
            <a:ext cx="14018260" cy="7625080"/>
          </a:xfrm>
          <a:prstGeom prst="rect">
            <a:avLst/>
          </a:prstGeom>
          <a:noFill/>
          <a:ln w="381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2228" y="578168"/>
            <a:ext cx="5447228" cy="63960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020202"/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</a:rPr>
              <a:t>Project Folder Structure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6759" y="1217930"/>
            <a:ext cx="2558415" cy="31980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020202"/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</a:rPr>
              <a:t>Source Layout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873478" y="1636395"/>
            <a:ext cx="2558415" cy="31980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020202"/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</a:rPr>
              <a:t>Design Patterns Used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873478" y="2144554"/>
            <a:ext cx="3457337" cy="1502569"/>
          </a:xfrm>
          <a:prstGeom prst="roundRect">
            <a:avLst>
              <a:gd name="adj" fmla="val 1946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91243" y="2362319"/>
            <a:ext cx="2762369" cy="31980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</a:rPr>
              <a:t>Page Object (API Client)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091243" y="2849523"/>
            <a:ext cx="3021806" cy="57983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Encapsulates all REST Assured calls in reusable client classes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0498217" y="2144554"/>
            <a:ext cx="3457456" cy="1502569"/>
          </a:xfrm>
          <a:prstGeom prst="roundRect">
            <a:avLst>
              <a:gd name="adj" fmla="val 1946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15982" y="2362319"/>
            <a:ext cx="2670810" cy="31980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</a:rPr>
              <a:t>Singleton (Base Config)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715982" y="2849523"/>
            <a:ext cx="3021925" cy="57983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Single config instance shared across all test classes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873478" y="3814524"/>
            <a:ext cx="7082195" cy="1212652"/>
          </a:xfrm>
          <a:prstGeom prst="roundRect">
            <a:avLst>
              <a:gd name="adj" fmla="val 2411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91243" y="4032290"/>
            <a:ext cx="2558415" cy="31980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</a:rPr>
              <a:t>Factory Pattern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091243" y="4519493"/>
            <a:ext cx="6646664" cy="28991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Builds request specifications dynamically from config</a:t>
            </a:r>
            <a:endParaRPr lang="en-US" sz="1500" dirty="0"/>
          </a:p>
        </p:txBody>
      </p:sp>
      <p:sp>
        <p:nvSpPr>
          <p:cNvPr id="18" name="Rectangle 17"/>
          <p:cNvSpPr/>
          <p:nvPr/>
        </p:nvSpPr>
        <p:spPr>
          <a:xfrm>
            <a:off x="12499975" y="7630795"/>
            <a:ext cx="2150110" cy="5988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311150" y="269240"/>
            <a:ext cx="14018260" cy="7625080"/>
          </a:xfrm>
          <a:prstGeom prst="rect">
            <a:avLst/>
          </a:prstGeom>
          <a:noFill/>
          <a:ln w="381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1"/>
          <a:srcRect l="2538" t="5957" r="66312" b="16998"/>
          <a:stretch>
            <a:fillRect/>
          </a:stretch>
        </p:blipFill>
        <p:spPr>
          <a:xfrm>
            <a:off x="1510665" y="1700530"/>
            <a:ext cx="4062095" cy="59664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87592"/>
            <a:ext cx="7683103" cy="7442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</a:rPr>
              <a:t>Test Scenario Demonstration</a:t>
            </a:r>
            <a:endParaRPr lang="en-US" sz="4650" dirty="0"/>
          </a:p>
        </p:txBody>
      </p:sp>
      <p:sp>
        <p:nvSpPr>
          <p:cNvPr id="3" name="Shape 1"/>
          <p:cNvSpPr/>
          <p:nvPr/>
        </p:nvSpPr>
        <p:spPr>
          <a:xfrm>
            <a:off x="793790" y="3005971"/>
            <a:ext cx="113348" cy="113348"/>
          </a:xfrm>
          <a:prstGeom prst="roundRect">
            <a:avLst>
              <a:gd name="adj" fmla="val 403360"/>
            </a:avLst>
          </a:prstGeom>
          <a:solidFill>
            <a:srgbClr val="E04F00"/>
          </a:solidFill>
        </p:spPr>
      </p:sp>
      <p:sp>
        <p:nvSpPr>
          <p:cNvPr id="4" name="Text 2"/>
          <p:cNvSpPr/>
          <p:nvPr/>
        </p:nvSpPr>
        <p:spPr>
          <a:xfrm>
            <a:off x="1133951" y="2885480"/>
            <a:ext cx="3818453" cy="74414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</a:rPr>
              <a:t>Pet Lifecycle — CRUD &amp; API Chaining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133951" y="3765709"/>
            <a:ext cx="3818453" cy="14516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POST → GET → PUT → DELETE → GET (expect 404). Extracts pet ID dynamically and chains all operations end-to-end.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235893" y="3005971"/>
            <a:ext cx="113348" cy="113348"/>
          </a:xfrm>
          <a:prstGeom prst="roundRect">
            <a:avLst>
              <a:gd name="adj" fmla="val 403360"/>
            </a:avLst>
          </a:prstGeom>
          <a:solidFill>
            <a:srgbClr val="E04F00"/>
          </a:solidFill>
        </p:spPr>
      </p:sp>
      <p:sp>
        <p:nvSpPr>
          <p:cNvPr id="7" name="Text 5"/>
          <p:cNvSpPr/>
          <p:nvPr/>
        </p:nvSpPr>
        <p:spPr>
          <a:xfrm>
            <a:off x="5576054" y="2885480"/>
            <a:ext cx="3818453" cy="74414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</a:rPr>
              <a:t>Inventory Analysis — Complex Parsing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5576054" y="3765709"/>
            <a:ext cx="3818453" cy="14516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GET /store/inventory → parse "available" count → GET /pet?status=available → cross-validate counts match.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677995" y="3005971"/>
            <a:ext cx="113348" cy="113348"/>
          </a:xfrm>
          <a:prstGeom prst="roundRect">
            <a:avLst>
              <a:gd name="adj" fmla="val 403360"/>
            </a:avLst>
          </a:prstGeom>
          <a:solidFill>
            <a:srgbClr val="E04F00"/>
          </a:solidFill>
        </p:spPr>
      </p:sp>
      <p:sp>
        <p:nvSpPr>
          <p:cNvPr id="10" name="Text 8"/>
          <p:cNvSpPr/>
          <p:nvPr/>
        </p:nvSpPr>
        <p:spPr>
          <a:xfrm>
            <a:off x="10018157" y="2885480"/>
            <a:ext cx="3818453" cy="74414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</a:rPr>
              <a:t>User Security — Negative Testing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10018157" y="3765709"/>
            <a:ext cx="3818453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Invalid email creation · 404 on non-existing user · failed login with bad credentials.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5791438"/>
            <a:ext cx="113348" cy="113348"/>
          </a:xfrm>
          <a:prstGeom prst="roundRect">
            <a:avLst>
              <a:gd name="adj" fmla="val 403360"/>
            </a:avLst>
          </a:prstGeom>
          <a:solidFill>
            <a:srgbClr val="E04F00"/>
          </a:solidFill>
        </p:spPr>
      </p:sp>
      <p:sp>
        <p:nvSpPr>
          <p:cNvPr id="13" name="Text 11"/>
          <p:cNvSpPr/>
          <p:nvPr/>
        </p:nvSpPr>
        <p:spPr>
          <a:xfrm>
            <a:off x="1133951" y="5670947"/>
            <a:ext cx="3750231" cy="3720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</a:rPr>
              <a:t>Cross-Endpoint Consistency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1133951" y="6179106"/>
            <a:ext cx="12702659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 pet → update status to "sold" → retrieve sold list → confirm pet ID present using dynamic loop.</a:t>
            </a:r>
            <a:endParaRPr lang="en-US" sz="1750" dirty="0"/>
          </a:p>
        </p:txBody>
      </p:sp>
      <p:sp>
        <p:nvSpPr>
          <p:cNvPr id="15" name="Rectangle 14"/>
          <p:cNvSpPr/>
          <p:nvPr/>
        </p:nvSpPr>
        <p:spPr>
          <a:xfrm>
            <a:off x="12499975" y="7630795"/>
            <a:ext cx="2150110" cy="5988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311150" y="269240"/>
            <a:ext cx="14018260" cy="7625080"/>
          </a:xfrm>
          <a:prstGeom prst="rect">
            <a:avLst/>
          </a:prstGeom>
          <a:noFill/>
          <a:ln w="381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01460" y="549116"/>
            <a:ext cx="4651653" cy="58138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550"/>
              </a:lnSpc>
              <a:buNone/>
            </a:pPr>
            <a:r>
              <a:rPr lang="en-US" sz="3650" dirty="0">
                <a:solidFill>
                  <a:srgbClr val="020202"/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</a:rPr>
              <a:t>Code Walkthrough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1201460" y="1476494"/>
            <a:ext cx="2325767" cy="29063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020202"/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</a:rPr>
              <a:t>Feature File (Gherkin)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201460" y="1922859"/>
            <a:ext cx="6530459" cy="2121218"/>
          </a:xfrm>
          <a:prstGeom prst="roundRect">
            <a:avLst>
              <a:gd name="adj" fmla="val 1253"/>
            </a:avLst>
          </a:prstGeom>
          <a:solidFill>
            <a:srgbClr val="F2F2F2"/>
          </a:solidFill>
        </p:spPr>
      </p:sp>
      <p:sp>
        <p:nvSpPr>
          <p:cNvPr id="5" name="Shape 3"/>
          <p:cNvSpPr/>
          <p:nvPr/>
        </p:nvSpPr>
        <p:spPr>
          <a:xfrm>
            <a:off x="1192649" y="1922859"/>
            <a:ext cx="6548080" cy="2121218"/>
          </a:xfrm>
          <a:prstGeom prst="roundRect">
            <a:avLst>
              <a:gd name="adj" fmla="val 1253"/>
            </a:avLst>
          </a:prstGeom>
          <a:solidFill>
            <a:srgbClr val="F2F2F2"/>
          </a:solidFill>
        </p:spPr>
      </p:sp>
      <p:sp>
        <p:nvSpPr>
          <p:cNvPr id="6" name="Text 4"/>
          <p:cNvSpPr/>
          <p:nvPr/>
        </p:nvSpPr>
        <p:spPr>
          <a:xfrm>
            <a:off x="1414105" y="2100024"/>
            <a:ext cx="6105168" cy="17668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Scenario: Pet Lifecycle CRUD</a:t>
            </a:r>
            <a:endParaRPr lang="en-US" sz="135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Given I create a new pet "Buddy"</a:t>
            </a:r>
            <a:endParaRPr lang="en-US" sz="135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When I retrieve the pet by ID</a:t>
            </a:r>
            <a:endParaRPr lang="en-US" sz="135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Then the pet name should be "Buddy"</a:t>
            </a:r>
            <a:endParaRPr lang="en-US" sz="135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When I update the pet status to "sold"</a:t>
            </a:r>
            <a:endParaRPr lang="en-US" sz="135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And I delete the pet</a:t>
            </a:r>
            <a:endParaRPr lang="en-US" sz="135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Then the pet should return 404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201460" y="4199811"/>
            <a:ext cx="2716054" cy="29063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020202"/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</a:rPr>
              <a:t>API Client (REST Assured)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201460" y="4646176"/>
            <a:ext cx="6530459" cy="2878455"/>
          </a:xfrm>
          <a:prstGeom prst="roundRect">
            <a:avLst>
              <a:gd name="adj" fmla="val 923"/>
            </a:avLst>
          </a:prstGeom>
          <a:solidFill>
            <a:srgbClr val="F2F2F2"/>
          </a:solidFill>
        </p:spPr>
      </p:sp>
      <p:sp>
        <p:nvSpPr>
          <p:cNvPr id="9" name="Shape 7"/>
          <p:cNvSpPr/>
          <p:nvPr/>
        </p:nvSpPr>
        <p:spPr>
          <a:xfrm>
            <a:off x="1192649" y="4646176"/>
            <a:ext cx="6548080" cy="2878455"/>
          </a:xfrm>
          <a:prstGeom prst="roundRect">
            <a:avLst>
              <a:gd name="adj" fmla="val 923"/>
            </a:avLst>
          </a:prstGeom>
          <a:solidFill>
            <a:srgbClr val="F2F2F2"/>
          </a:solidFill>
        </p:spPr>
      </p:sp>
      <p:sp>
        <p:nvSpPr>
          <p:cNvPr id="10" name="Text 8"/>
          <p:cNvSpPr/>
          <p:nvPr/>
        </p:nvSpPr>
        <p:spPr>
          <a:xfrm>
            <a:off x="1414105" y="4823341"/>
            <a:ext cx="6105168" cy="25241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public Response createPet(String name) {</a:t>
            </a:r>
            <a:endParaRPr lang="en-US" sz="135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return given()</a:t>
            </a:r>
            <a:endParaRPr lang="en-US" sz="135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.spec(requestSpec)</a:t>
            </a:r>
            <a:endParaRPr lang="en-US" sz="135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.body(buildPayload(name))</a:t>
            </a:r>
            <a:endParaRPr lang="en-US" sz="135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.when()</a:t>
            </a:r>
            <a:endParaRPr lang="en-US" sz="135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.post("/pet")</a:t>
            </a:r>
            <a:endParaRPr lang="en-US" sz="135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.then()</a:t>
            </a:r>
            <a:endParaRPr lang="en-US" sz="135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.statusCode(200)</a:t>
            </a:r>
            <a:endParaRPr lang="en-US" sz="135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.extract().response();</a:t>
            </a:r>
            <a:endParaRPr lang="en-US" sz="135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171736" y="1476494"/>
            <a:ext cx="3249692" cy="29063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020202"/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</a:rPr>
              <a:t>Key Implementation Highlights</a:t>
            </a:r>
            <a:endParaRPr lang="en-US" sz="18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38173" y="1931670"/>
            <a:ext cx="265748" cy="265747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747522" y="1922859"/>
            <a:ext cx="4688800" cy="5124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Dynamic ID extraction</a:t>
            </a:r>
            <a:r>
              <a:rPr lang="en-US" sz="13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via </a:t>
            </a:r>
            <a:r>
              <a:rPr lang="en-US" sz="1350" dirty="0">
                <a:solidFill>
                  <a:srgbClr val="383838"/>
                </a:solidFill>
                <a:highlight>
                  <a:srgbClr val="F2F2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response.jsonPath().getInt("id")</a:t>
            </a:r>
            <a:endParaRPr lang="en-US" sz="135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38173" y="2748796"/>
            <a:ext cx="265748" cy="26574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747522" y="2739985"/>
            <a:ext cx="4688800" cy="504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RequestSpecification</a:t>
            </a:r>
            <a:r>
              <a:rPr lang="en-US" sz="13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reused across all client methods — no duplication</a:t>
            </a:r>
            <a:endParaRPr lang="en-US" sz="135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38173" y="3565922"/>
            <a:ext cx="265748" cy="26574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747522" y="3557111"/>
            <a:ext cx="4688800" cy="5124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Hooks</a:t>
            </a:r>
            <a:r>
              <a:rPr lang="en-US" sz="13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handle setup/teardown; </a:t>
            </a:r>
            <a:r>
              <a:rPr lang="en-US" sz="13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BaseTest</a:t>
            </a:r>
            <a:r>
              <a:rPr lang="en-US" sz="13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loads </a:t>
            </a:r>
            <a:r>
              <a:rPr lang="en-US" sz="1350" dirty="0">
                <a:solidFill>
                  <a:srgbClr val="383838"/>
                </a:solidFill>
                <a:highlight>
                  <a:srgbClr val="F2F2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config.properties</a:t>
            </a:r>
            <a:endParaRPr lang="en-US" sz="135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38173" y="4383048"/>
            <a:ext cx="265748" cy="265747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747522" y="4374237"/>
            <a:ext cx="4688800" cy="5200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Assertions</a:t>
            </a:r>
            <a:r>
              <a:rPr lang="en-US" sz="13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use both REST Assured </a:t>
            </a:r>
            <a:r>
              <a:rPr lang="en-US" sz="1350" dirty="0">
                <a:solidFill>
                  <a:srgbClr val="383838"/>
                </a:solidFill>
                <a:highlight>
                  <a:srgbClr val="F2F2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body()</a:t>
            </a:r>
            <a:r>
              <a:rPr lang="en-US" sz="13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matchers and TestNG </a:t>
            </a:r>
            <a:r>
              <a:rPr lang="en-US" sz="1350" dirty="0">
                <a:solidFill>
                  <a:srgbClr val="383838"/>
                </a:solidFill>
                <a:highlight>
                  <a:srgbClr val="F2F2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assertEquals</a:t>
            </a:r>
            <a:endParaRPr lang="en-US" sz="1350" dirty="0"/>
          </a:p>
        </p:txBody>
      </p:sp>
      <p:sp>
        <p:nvSpPr>
          <p:cNvPr id="20" name="Rectangle 19"/>
          <p:cNvSpPr/>
          <p:nvPr/>
        </p:nvSpPr>
        <p:spPr>
          <a:xfrm>
            <a:off x="12499975" y="7630795"/>
            <a:ext cx="2150110" cy="5988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311150" y="269240"/>
            <a:ext cx="14018260" cy="7625080"/>
          </a:xfrm>
          <a:prstGeom prst="rect">
            <a:avLst/>
          </a:prstGeom>
          <a:noFill/>
          <a:ln w="381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95375"/>
            <a:ext cx="10512623" cy="7442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</a:rPr>
              <a:t>Execution, Reporting &amp; Version Control</a:t>
            </a:r>
            <a:endParaRPr lang="en-US" sz="4650" dirty="0"/>
          </a:p>
        </p:txBody>
      </p:sp>
      <p:sp>
        <p:nvSpPr>
          <p:cNvPr id="3" name="Shape 1"/>
          <p:cNvSpPr/>
          <p:nvPr/>
        </p:nvSpPr>
        <p:spPr>
          <a:xfrm>
            <a:off x="793790" y="2293263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2EEEE"/>
          </a:solidFill>
        </p:spPr>
      </p:sp>
      <p:sp>
        <p:nvSpPr>
          <p:cNvPr id="4" name="Text 2"/>
          <p:cNvSpPr/>
          <p:nvPr/>
        </p:nvSpPr>
        <p:spPr>
          <a:xfrm>
            <a:off x="870347" y="2325172"/>
            <a:ext cx="357188" cy="44648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800" dirty="0">
                <a:solidFill>
                  <a:srgbClr val="383838"/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</a:rPr>
              <a:t>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530906" y="2371130"/>
            <a:ext cx="2977039" cy="3873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000000"/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</a:rPr>
              <a:t>🚀</a:t>
            </a:r>
            <a:r>
              <a:rPr lang="en-US" sz="2300" dirty="0">
                <a:solidFill>
                  <a:srgbClr val="383838"/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</a:rPr>
              <a:t> Run Suite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1530906" y="2894528"/>
            <a:ext cx="3421499" cy="3705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highlight>
                  <a:srgbClr val="F2F2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mvn clean test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1530906" y="3401139"/>
            <a:ext cx="3421499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TestRunner triggers all feature files in one command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35893" y="2293263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2EEEE"/>
          </a:solidFill>
        </p:spPr>
      </p:sp>
      <p:sp>
        <p:nvSpPr>
          <p:cNvPr id="9" name="Text 7"/>
          <p:cNvSpPr/>
          <p:nvPr/>
        </p:nvSpPr>
        <p:spPr>
          <a:xfrm>
            <a:off x="5312450" y="2325172"/>
            <a:ext cx="357188" cy="44648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800" dirty="0">
                <a:solidFill>
                  <a:srgbClr val="383838"/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973008" y="2371130"/>
            <a:ext cx="2977039" cy="3873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000000"/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</a:rPr>
              <a:t>📊</a:t>
            </a:r>
            <a:r>
              <a:rPr lang="en-US" sz="2300" dirty="0">
                <a:solidFill>
                  <a:srgbClr val="383838"/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</a:rPr>
              <a:t> Extent Report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5973008" y="2894528"/>
            <a:ext cx="3421499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Rich HTML dashboard — pass/fail, timing, step-level details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77995" y="2293263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2EEEE"/>
          </a:solidFill>
        </p:spPr>
      </p:sp>
      <p:sp>
        <p:nvSpPr>
          <p:cNvPr id="13" name="Text 11"/>
          <p:cNvSpPr/>
          <p:nvPr/>
        </p:nvSpPr>
        <p:spPr>
          <a:xfrm>
            <a:off x="9754552" y="2325172"/>
            <a:ext cx="357188" cy="44648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800" dirty="0">
                <a:solidFill>
                  <a:srgbClr val="383838"/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</a:rPr>
              <a:t>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0415111" y="2371130"/>
            <a:ext cx="2977039" cy="3873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000000"/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</a:rPr>
              <a:t>🥒</a:t>
            </a:r>
            <a:r>
              <a:rPr lang="en-US" sz="2300" dirty="0">
                <a:solidFill>
                  <a:srgbClr val="383838"/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</a:rPr>
              <a:t> Cucumber Report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10415111" y="2894528"/>
            <a:ext cx="3421499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Scenario-by-scenario BDD execution summary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93790" y="4580573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2EEEE"/>
          </a:solidFill>
        </p:spPr>
      </p:sp>
      <p:sp>
        <p:nvSpPr>
          <p:cNvPr id="17" name="Text 15"/>
          <p:cNvSpPr/>
          <p:nvPr/>
        </p:nvSpPr>
        <p:spPr>
          <a:xfrm>
            <a:off x="870347" y="4612481"/>
            <a:ext cx="357188" cy="44648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800" dirty="0">
                <a:solidFill>
                  <a:srgbClr val="383838"/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</a:rPr>
              <a:t>4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530906" y="4658439"/>
            <a:ext cx="2977039" cy="3873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000000"/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</a:rPr>
              <a:t>📁</a:t>
            </a:r>
            <a:r>
              <a:rPr lang="en-US" sz="2300" dirty="0">
                <a:solidFill>
                  <a:srgbClr val="383838"/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</a:rPr>
              <a:t> Surefire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1530906" y="5181838"/>
            <a:ext cx="5642491" cy="7334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highlight>
                  <a:srgbClr val="F2F2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target/surefire-reports</a:t>
            </a: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CI/CD compatible XML + HTML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456884" y="4580573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2EEEE"/>
          </a:solidFill>
        </p:spPr>
      </p:sp>
      <p:sp>
        <p:nvSpPr>
          <p:cNvPr id="21" name="Text 19"/>
          <p:cNvSpPr/>
          <p:nvPr/>
        </p:nvSpPr>
        <p:spPr>
          <a:xfrm>
            <a:off x="7533442" y="4612481"/>
            <a:ext cx="357188" cy="44648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800" dirty="0">
                <a:solidFill>
                  <a:srgbClr val="383838"/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</a:rPr>
              <a:t>5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8194000" y="4658439"/>
            <a:ext cx="2977039" cy="3873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000000"/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</a:rPr>
              <a:t>🔀</a:t>
            </a:r>
            <a:r>
              <a:rPr lang="en-US" sz="2300" dirty="0">
                <a:solidFill>
                  <a:srgbClr val="383838"/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</a:rPr>
              <a:t> Git / GitHub</a:t>
            </a:r>
            <a:endParaRPr lang="en-US" sz="2300" dirty="0"/>
          </a:p>
        </p:txBody>
      </p:sp>
      <p:sp>
        <p:nvSpPr>
          <p:cNvPr id="23" name="Text 21"/>
          <p:cNvSpPr/>
          <p:nvPr/>
        </p:nvSpPr>
        <p:spPr>
          <a:xfrm>
            <a:off x="8194000" y="5181838"/>
            <a:ext cx="5642610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Incremental commits · structured repo · full project history</a:t>
            </a:r>
            <a:endParaRPr lang="en-US" sz="1750" dirty="0"/>
          </a:p>
        </p:txBody>
      </p:sp>
      <p:sp>
        <p:nvSpPr>
          <p:cNvPr id="24" name="Shape 22"/>
          <p:cNvSpPr/>
          <p:nvPr/>
        </p:nvSpPr>
        <p:spPr>
          <a:xfrm>
            <a:off x="793790" y="6170414"/>
            <a:ext cx="13042821" cy="963811"/>
          </a:xfrm>
          <a:prstGeom prst="roundRect">
            <a:avLst>
              <a:gd name="adj" fmla="val 3530"/>
            </a:avLst>
          </a:prstGeom>
          <a:solidFill>
            <a:srgbClr val="B6D6FC"/>
          </a:solidFill>
        </p:spPr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604" y="6514505"/>
            <a:ext cx="283488" cy="226814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530906" y="6453902"/>
            <a:ext cx="1207889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GitHub: </a:t>
            </a:r>
            <a:r>
              <a:rPr lang="en-US" sz="1750" u="sng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veeva-automation-engineer-roadmap</a:t>
            </a:r>
            <a:r>
              <a:rPr lang="en-US" sz="1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· API Reference: </a:t>
            </a:r>
            <a:r>
              <a:rPr lang="en-US" sz="1750" u="sng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petstore.swagger.io</a:t>
            </a:r>
            <a:endParaRPr lang="en-US" sz="1750" dirty="0"/>
          </a:p>
        </p:txBody>
      </p:sp>
      <p:sp>
        <p:nvSpPr>
          <p:cNvPr id="27" name="Rectangle 26"/>
          <p:cNvSpPr/>
          <p:nvPr/>
        </p:nvSpPr>
        <p:spPr>
          <a:xfrm>
            <a:off x="12499975" y="7630795"/>
            <a:ext cx="2150110" cy="5988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311150" y="260350"/>
            <a:ext cx="14018260" cy="7625080"/>
          </a:xfrm>
          <a:prstGeom prst="rect">
            <a:avLst/>
          </a:prstGeom>
          <a:noFill/>
          <a:ln w="381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84352"/>
            <a:ext cx="7228880" cy="7442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</a:rPr>
              <a:t>Conclusion &amp; Future Scope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2795588"/>
            <a:ext cx="2977039" cy="3720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020202"/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</a:rPr>
              <a:t>What Was Achieved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93790" y="3394472"/>
            <a:ext cx="6244709" cy="161020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Production-grade BDD framework from scratch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 end-to-end scenarios covering CRUD, chaining, negative, and cross-endpoint validation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Modular, reusable, CI-ready architecture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99521" y="2795588"/>
            <a:ext cx="2977039" cy="3720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020202"/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</a:rPr>
              <a:t>Future Enhancements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7599521" y="3394472"/>
            <a:ext cx="6244709" cy="168949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Data-driven testing via external Excel / CSV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CI/CD pipeline integration (Jenkins / GitHub Actions)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Parallel execution with TestNG thread pools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Contract testing with Pact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93790" y="5418415"/>
            <a:ext cx="13042821" cy="1326713"/>
          </a:xfrm>
          <a:prstGeom prst="roundRect">
            <a:avLst>
              <a:gd name="adj" fmla="val 2565"/>
            </a:avLst>
          </a:prstGeom>
          <a:solidFill>
            <a:srgbClr val="B6FCB8"/>
          </a:solidFill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604" y="5762506"/>
            <a:ext cx="283488" cy="22681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30906" y="5701903"/>
            <a:ext cx="12078891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framework serves as a scalable foundation for enterprise API automation — interview-ready, industry-aligned, and built to grow.</a:t>
            </a:r>
            <a:endParaRPr lang="en-US" sz="1750" dirty="0"/>
          </a:p>
        </p:txBody>
      </p:sp>
      <p:sp>
        <p:nvSpPr>
          <p:cNvPr id="11" name="Rectangle 10"/>
          <p:cNvSpPr/>
          <p:nvPr/>
        </p:nvSpPr>
        <p:spPr>
          <a:xfrm>
            <a:off x="12499975" y="7630795"/>
            <a:ext cx="2150110" cy="5988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311150" y="269240"/>
            <a:ext cx="14018260" cy="7625080"/>
          </a:xfrm>
          <a:prstGeom prst="rect">
            <a:avLst/>
          </a:prstGeom>
          <a:noFill/>
          <a:ln w="381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4022</Words>
  <Application>WPS Presentation</Application>
  <PresentationFormat>On-screen Show (16:9)</PresentationFormat>
  <Paragraphs>242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7" baseType="lpstr">
      <vt:lpstr>Arial</vt:lpstr>
      <vt:lpstr>SimSun</vt:lpstr>
      <vt:lpstr>Wingdings</vt:lpstr>
      <vt:lpstr>PT Serif</vt:lpstr>
      <vt:lpstr>PT Serif</vt:lpstr>
      <vt:lpstr>PT Serif</vt:lpstr>
      <vt:lpstr>DM Sans</vt:lpstr>
      <vt:lpstr>DM Sans</vt:lpstr>
      <vt:lpstr>DM Sans</vt:lpstr>
      <vt:lpstr>Consolas</vt:lpstr>
      <vt:lpstr>Consolas</vt:lpstr>
      <vt:lpstr>Consolas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Veera Venkata Naga Sri Mani Chandana Mad</cp:lastModifiedBy>
  <cp:revision>3</cp:revision>
  <dcterms:created xsi:type="dcterms:W3CDTF">2026-04-29T15:33:00Z</dcterms:created>
  <dcterms:modified xsi:type="dcterms:W3CDTF">2026-04-29T16:32:50Z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1033-12.1.0.25862</vt:lpwstr>
  </property>
  <property fmtid="{D5CDD505-2E9C-101B-9397-08002B2CF9AE}" pid="3" name="ICV">
    <vt:lpwstr>FF5B65BA4D2B472BA529BE254EB16474_12</vt:lpwstr>
  </property>
</Properties>
</file>